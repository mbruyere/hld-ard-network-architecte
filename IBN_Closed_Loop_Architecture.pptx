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IBN Closed-Loop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Control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9315 + MALT Multi-Model Lifecycle + 10 AI Agents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2860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SSoT  •  NetLab Target Network  •  VyOS Jinja2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Campus Network — HLD / 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5852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 — Closed-Loop Feedback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1887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Human Operator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Intent Author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Outer Loop Decision Maker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6035040" cy="2377440"/>
          </a:xfrm>
          <a:prstGeom prst="rect">
            <a:avLst/>
          </a:prstGeom>
          <a:solidFill>
            <a:srgbClr val="DBEAFE">
              <a:alpha val="60000"/>
            </a:srgbClr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880360" y="1051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FULFILLMENT PLANE — RFC 9315 §5.1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1051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6002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A1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§5.1.1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87368" y="1463040"/>
            <a:ext cx="1051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33088" y="16002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Intent→Policy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§5.1.2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48656" y="1463040"/>
            <a:ext cx="1051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4376" y="16002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A3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Policy→Config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§5.1.2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9944" y="1463040"/>
            <a:ext cx="1051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55664" y="16002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A4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Planning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§5.1.2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71232" y="1463040"/>
            <a:ext cx="1051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16952" y="16002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A5</a:t>
            </a:r>
            <a:endParaRPr lang="en-US" sz="11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Orchestration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§5.1.3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2148840"/>
            <a:ext cx="10972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148840"/>
            <a:ext cx="10972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2148840"/>
            <a:ext cx="10972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2148840"/>
            <a:ext cx="109728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005840"/>
            <a:ext cx="2560320" cy="2377440"/>
          </a:xfrm>
          <a:prstGeom prst="rect">
            <a:avLst/>
          </a:prstGeom>
          <a:solidFill>
            <a:srgbClr val="D1FAE5">
              <a:alpha val="60000"/>
            </a:srgbClr>
          </a:solidFill>
          <a:ln w="19050">
            <a:solidFill>
              <a:srgbClr val="05966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3268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18320" y="1600200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16002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Access SW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18320" y="193852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1938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Agg SW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18320" y="2276856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2276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USF (VyOS)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18320" y="2615184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0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DMZFW (VyOS)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18320" y="2953512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2953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Internet Edge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778240" y="2148840"/>
            <a:ext cx="4572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SSH/NETCONF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Jinja2 push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77440" y="169164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95728" y="1188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NL / API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Intent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0" y="3749040"/>
            <a:ext cx="6035040" cy="2377440"/>
          </a:xfrm>
          <a:prstGeom prst="rect">
            <a:avLst/>
          </a:prstGeom>
          <a:solidFill>
            <a:srgbClr val="FEE2E2">
              <a:alpha val="60000"/>
            </a:srgbClr>
          </a:solidFill>
          <a:ln w="19050">
            <a:solidFill>
              <a:srgbClr val="DC262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88036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ASSURANCE PLANE — RFC 9315 §5.2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4206240"/>
            <a:ext cx="1645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154680" y="4343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A6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Monitoring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§5.2.1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4206240"/>
            <a:ext cx="1645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074920" y="4343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A7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Assessment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§5.2.2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4206240"/>
            <a:ext cx="1645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995160" y="4343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Compliance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§5.2.3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54880" y="4892040"/>
            <a:ext cx="2743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0" y="4892040"/>
            <a:ext cx="2743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15600" y="3383280"/>
            <a:ext cx="-6583680" cy="822960"/>
          </a:xfrm>
          <a:prstGeom prst="line">
            <a:avLst/>
          </a:prstGeom>
          <a:noFill/>
          <a:ln w="25400">
            <a:solidFill>
              <a:srgbClr val="059669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89611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gNMI / SNMP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732520" y="2834640"/>
            <a:ext cx="0" cy="1371600"/>
          </a:xfrm>
          <a:prstGeom prst="line">
            <a:avLst/>
          </a:prstGeom>
          <a:noFill/>
          <a:ln w="25400">
            <a:solidFill>
              <a:srgbClr val="F97316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877824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INNER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LOOP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749040"/>
            <a:ext cx="2011680" cy="2377440"/>
          </a:xfrm>
          <a:prstGeom prst="rect">
            <a:avLst/>
          </a:prstGeom>
          <a:solidFill>
            <a:srgbClr val="FEF3C7">
              <a:alpha val="60000"/>
            </a:srgbClr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PLANE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4160520"/>
            <a:ext cx="1737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02920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A9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Abstraction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" y="5120640"/>
            <a:ext cx="1737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920" y="5212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A10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Reporting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77440" y="4892040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2395728" y="4937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OUTER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LOOP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371600" y="2286000"/>
            <a:ext cx="0" cy="1463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63040" y="2880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Dashboards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Alerts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235440" y="3749040"/>
            <a:ext cx="2560320" cy="2377440"/>
          </a:xfrm>
          <a:prstGeom prst="rect">
            <a:avLst/>
          </a:prstGeom>
          <a:solidFill>
            <a:srgbClr val="EDE9FE">
              <a:alpha val="60000"/>
            </a:srgbClr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93268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SSoT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Ontology + 5 Models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372600" y="4343400"/>
            <a:ext cx="2286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7260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372600" y="4681728"/>
            <a:ext cx="228600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72600" y="4681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CANDIDATE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372600" y="5020056"/>
            <a:ext cx="22860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72600" y="5020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372600" y="5358384"/>
            <a:ext cx="2286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72600" y="5358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372600" y="5696712"/>
            <a:ext cx="22860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72600" y="5696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AS-BUILT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778240" y="4937760"/>
            <a:ext cx="4572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ysDot"/>
          </a:ln>
        </p:spPr>
      </p:sp>
      <p:sp>
        <p:nvSpPr>
          <p:cNvPr id="75" name="Text 73"/>
          <p:cNvSpPr/>
          <p:nvPr/>
        </p:nvSpPr>
        <p:spPr>
          <a:xfrm>
            <a:off x="8823960" y="4617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R/W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778240" y="3383280"/>
            <a:ext cx="173736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457200" y="6446520"/>
            <a:ext cx="182880" cy="182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8" name="Text 76"/>
          <p:cNvSpPr/>
          <p:nvPr/>
        </p:nvSpPr>
        <p:spPr>
          <a:xfrm>
            <a:off x="68580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Fulfillment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103120" y="6446520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0" name="Text 78"/>
          <p:cNvSpPr/>
          <p:nvPr/>
        </p:nvSpPr>
        <p:spPr>
          <a:xfrm>
            <a:off x="233172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Assurance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749040" y="6446520"/>
            <a:ext cx="18288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2" name="Text 80"/>
          <p:cNvSpPr/>
          <p:nvPr/>
        </p:nvSpPr>
        <p:spPr>
          <a:xfrm>
            <a:off x="397764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SSoT (Neo4j)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394960" y="6446520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4" name="Text 82"/>
          <p:cNvSpPr/>
          <p:nvPr/>
        </p:nvSpPr>
        <p:spPr>
          <a:xfrm>
            <a:off x="562356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NetLab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040880" y="644652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6" name="Text 84"/>
          <p:cNvSpPr/>
          <p:nvPr/>
        </p:nvSpPr>
        <p:spPr>
          <a:xfrm>
            <a:off x="726948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Human / Reporting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686800" y="6446520"/>
            <a:ext cx="1828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8" name="Text 86"/>
          <p:cNvSpPr/>
          <p:nvPr/>
        </p:nvSpPr>
        <p:spPr>
          <a:xfrm>
            <a:off x="891540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Inner Loop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0332720" y="6446520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0" name="Text 88"/>
          <p:cNvSpPr/>
          <p:nvPr/>
        </p:nvSpPr>
        <p:spPr>
          <a:xfrm>
            <a:off x="10561320" y="6428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Outer Loop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Fulfillment Plane — Agents 1–5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71500" y="1097280"/>
            <a:ext cx="2057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097280"/>
            <a:ext cx="20574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29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RFC 9315 §5.1.1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8660" y="2103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NLP parse / template / API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Interactive refinement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Conflict detection vs SSoT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Feasibility validation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2940" y="4114800"/>
            <a:ext cx="187452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294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Intent node → L4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28900" y="3017520"/>
            <a:ext cx="1828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1780" y="1097280"/>
            <a:ext cx="2057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11780" y="1097280"/>
            <a:ext cx="20574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90322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Intent→Policy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0322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RFC 9315 §5.1.2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8940" y="2103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Decompose intent → policy 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Resolve policy conflicts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Assign SGT, zone, DSCP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Map to HLD population 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03220" y="4114800"/>
            <a:ext cx="187452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90322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Policy, FW Rule, SGT → L4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69180" y="3017520"/>
            <a:ext cx="1828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2060" y="1097280"/>
            <a:ext cx="2057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52060" y="1097280"/>
            <a:ext cx="20574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14350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Policy→Config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4350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RFC 9315 §5.1.2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89220" y="2103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Render vendor-specific configs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VyOS Jinja2 templates (FW)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Per-device config diffs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NetLab-compatible output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43500" y="4114800"/>
            <a:ext cx="187452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4350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Configuration → L5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09460" y="3017520"/>
            <a:ext cx="1828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2340" y="1097280"/>
            <a:ext cx="2057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92340" y="1097280"/>
            <a:ext cx="20574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38378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Planning &amp; Opt.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8378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RFC 9315 §5.1.2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29500" y="2103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What-If analysis (MALT §2.2)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Drain-impact assessment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Blast radius via graph traversal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Migration sequencing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83780" y="4114800"/>
            <a:ext cx="187452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38378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MigrationPlan → L7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349740" y="3017520"/>
            <a:ext cx="1828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32620" y="1097280"/>
            <a:ext cx="2057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32620" y="1097280"/>
            <a:ext cx="20574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8" name="Text 36"/>
          <p:cNvSpPr/>
          <p:nvPr/>
        </p:nvSpPr>
        <p:spPr>
          <a:xfrm>
            <a:off x="9624060" y="1143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Orchestration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2406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RFC 9315 §5.1.3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669780" y="21031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Generate topology.yml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Push config SSH/NETCONF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Jinja2 FW pipeline execution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Transactional rollback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24060" y="4114800"/>
            <a:ext cx="187452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624060" y="4206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DeploymentEvent → L5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Intent INGESTED → TRANSLATED → RENDERED → APPROVED → DEPLOYED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31720" y="5669280"/>
            <a:ext cx="14630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2331720" y="5669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WHAT-IF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94760" y="582930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5669280"/>
            <a:ext cx="14630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4343400" y="5669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CANDIDATE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806440" y="582930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5669280"/>
            <a:ext cx="14630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5669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18120" y="582930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5669280"/>
            <a:ext cx="1463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8366760" y="5669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Assurance Plane — Agents 6–8 + Feedback Loops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1051560"/>
            <a:ext cx="3200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051560"/>
            <a:ext cx="32004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— Monitoring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RFC 9315 §5.2.1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2103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gNMI / NETCONF / SSH polling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SNMP, syslog, NetFlow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Anomaly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As-Built auditing (MALT §2.2)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292608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Telemetry, OpState → L5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Creates: AS-BUILT model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2788920"/>
            <a:ext cx="3200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051560"/>
            <a:ext cx="3200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051560"/>
            <a:ext cx="32004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— Compliance Assessment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RFC 9315 §5.2.2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POR vs AS-BUILT comparison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Intent drift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Root cause analysis (graph)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Classify: COMPLIANT / NON_COMPLIANT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840480"/>
            <a:ext cx="292608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ComplianceAssessment → L6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Incident, RootCause → L6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80960" y="2788920"/>
            <a:ext cx="3200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051560"/>
            <a:ext cx="32004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1000" y="1051560"/>
            <a:ext cx="32004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— Compliance 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RFC 9315 §5.2.3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83880" y="21031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Info: log only (autonomous)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Low: auto-remediate (inner loop)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Medium: re-orchestrate + verify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High/Critical: escalate (outer loop)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292608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Writes: Remediation → L6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Ticket → L9 (on escalate)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4937760"/>
            <a:ext cx="4389120" cy="12801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554480" y="5074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INNER LOOP — Autonomous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RE_ORCHESTRATE → Agent 5 (auto-remediate)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RE_PLAN → Agent 4 (new Candidate model)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937760"/>
            <a:ext cx="4389120" cy="128016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5074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OUTER LOOP — Human-in-the-Loop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ESCALATE → Agents 9/10 → Human Operator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High/Critical severity — rollback + freeze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SSoT — 5 Model States + 9-Layer Ontology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Model States (MALT)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572000" cy="6400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WHAT-IF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Explore options — many, ephemeral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14884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457200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CANDIDATE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Proposed change — validated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97180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54680"/>
            <a:ext cx="457200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154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Plan of Record — approved, versioned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379476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77640"/>
            <a:ext cx="457200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9776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DEPLOYED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Pushed to NetLab — awaiting verify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4617720"/>
            <a:ext cx="0" cy="1828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800600"/>
            <a:ext cx="4572000" cy="6400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800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AS-BUILT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Observed actual — from telemetry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select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0" y="2971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approve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0" y="3794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deploy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896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verify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Ontology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5303520" cy="43891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5087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Infrastructure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Site, Device, Interface, Link, VLAN, VRF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020824"/>
            <a:ext cx="5303520" cy="43891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2082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Topology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Zone, Segment, FirewallPair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532888"/>
            <a:ext cx="5303520" cy="43891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25328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Architecture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HLD, ARD, BUC, ArchVersion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044952"/>
            <a:ext cx="5303520" cy="438912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0449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L4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Policy &amp; Intent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Intent, Policy, FWRule, SGT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557016"/>
            <a:ext cx="5303520" cy="438912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355701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L5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Config &amp; State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Configuration, Telemetry, OpState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069080"/>
            <a:ext cx="5303520" cy="438912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40690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L6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Incidents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Alert, Incident, RootCause, Remediation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581144"/>
            <a:ext cx="5303520" cy="438912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45811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L7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Change Mgmt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ChangeRequest, MigrationPlan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093208"/>
            <a:ext cx="5303520" cy="438912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50932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L8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Lifecycle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LifecyclePhase, Transition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605272"/>
            <a:ext cx="5303520" cy="438912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56052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L9 </a:t>
            </a:r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People / Process — </a:t>
            </a:r>
            <a:pPr indent="0" marL="0">
              <a:buNone/>
            </a:pPr>
            <a:r>
              <a:rPr lang="en-US" sz="900" dirty="0">
                <a:solidFill>
                  <a:srgbClr val="D4D4D8"/>
                </a:solidFill>
              </a:rPr>
              <a:t>Operator, Team, Ticket, SLA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Cross-Layer Abstraction Relationships (MALT §3.3)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6309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REALIZED_BY  •  CONTAINS  •  AGGREGATES  •  TRAVERSES  •  PRECEDED_BY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5943600"/>
            <a:ext cx="45720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7240" y="59436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Bus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Neo4j CDC / Kafka / Redis — Agent triggering on model state changes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NetLab Target Network + VyOS Jinja2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Network Topology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19456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Access Switches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VLANs 100-160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219456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Aggregation Switches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566160"/>
            <a:ext cx="22860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User Services FW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(VyOS, Active-Active)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566160"/>
            <a:ext cx="22860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DMZ/Internet FW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(VyOS, Active-Active)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4572000"/>
            <a:ext cx="22860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4572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Internet Edge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ISP Stubs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0" y="2286000"/>
            <a:ext cx="0" cy="3657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200400"/>
            <a:ext cx="0" cy="3657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200400"/>
            <a:ext cx="1143000" cy="36576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886200"/>
            <a:ext cx="18288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286000" y="3657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97316"/>
                </a:solidFill>
              </a:rPr>
              <a:t>VLAN 300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86200" y="4206240"/>
            <a:ext cx="0" cy="36576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VyOS Jinja2 Rendering Pipeline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16002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Neo4j SSoT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Cypher extraction queries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219456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24231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Context Assembly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Devices, zones, segments, policies, interfaces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297180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37960" y="32004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3154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Jinja2 Templates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vyos_firewall_base.j2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vyos_firewall_policies.j2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vyos_nat.j2  •  vyos_ha.j2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15400" y="374904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88620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537960" y="39776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32320" y="39319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Config Rendering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Per-device VyOS set commands with intent traceability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15400" y="452628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466344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537960" y="47548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32320" y="47091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Orchestration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SSH / NETCONF push to NetLab + post-deploy verify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15400" y="53035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5440680"/>
            <a:ext cx="50292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537960" y="55321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54864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Audit Trail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DeploymentEvent → Neo4j L5 with snapshot ID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Population Segments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669280"/>
          <a:ext cx="48463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VLAN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Population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Subnet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Employee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10.100.0.0/24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Voice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10.100.10.0/24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Video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10.100.30.0/24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140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Guest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10.100.40.0/24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Evolution, Governance &amp; 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3200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1554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Campus / Branch / Lab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Machine-checkable constraints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Mandatory vs optional layers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3200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1554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Schema Review 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Orthogonality + overlap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Stability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Deprecation process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2004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64040" y="15544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Ontology Versioning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SemVer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Backward-compatible minors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Canned query stability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Key References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RFC 9315 — Intent-Based Networking (IBN) Concepts and Definitions (Li et al., 2022)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Mogul et al. — Experiences with Modeling Network Topologies at Multiple Levels (NSDI '20) — MALT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Cisco SAFE Campus Architecture — Security Reference Design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NetLab (netlab.tools) — Virtual Lab Infrastructure for Network Testing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Neo4j Property Graph — 9-Layer Ontology for Network Lifecycle Management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IBN Closed-Loop Feedback Control Architecture</dc:title>
  <dc:subject>PptxGenJS Presentation</dc:subject>
  <dc:creator>Marc Bruyere-Yamada</dc:creator>
  <cp:lastModifiedBy>Marc Bruyere-Yamada</cp:lastModifiedBy>
  <cp:revision>1</cp:revision>
  <dcterms:created xsi:type="dcterms:W3CDTF">2026-03-28T19:03:57Z</dcterms:created>
  <dcterms:modified xsi:type="dcterms:W3CDTF">2026-03-28T19:03:57Z</dcterms:modified>
</cp:coreProperties>
</file>